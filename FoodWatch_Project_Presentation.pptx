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njal Verma" userId="59b855619333984a" providerId="LiveId" clId="{47CC5D5F-9F08-4795-BFA8-9D20F4AFD539}"/>
    <pc:docChg chg="modSld">
      <pc:chgData name="Pranjal Verma" userId="59b855619333984a" providerId="LiveId" clId="{47CC5D5F-9F08-4795-BFA8-9D20F4AFD539}" dt="2026-09-21T04:47:27.223" v="3" actId="1076"/>
      <pc:docMkLst>
        <pc:docMk/>
      </pc:docMkLst>
      <pc:sldChg chg="modSp mod">
        <pc:chgData name="Pranjal Verma" userId="59b855619333984a" providerId="LiveId" clId="{47CC5D5F-9F08-4795-BFA8-9D20F4AFD539}" dt="2026-09-21T04:47:27.223" v="3" actId="1076"/>
        <pc:sldMkLst>
          <pc:docMk/>
          <pc:sldMk cId="0" sldId="256"/>
        </pc:sldMkLst>
        <pc:picChg chg="mod">
          <ac:chgData name="Pranjal Verma" userId="59b855619333984a" providerId="LiveId" clId="{47CC5D5F-9F08-4795-BFA8-9D20F4AFD539}" dt="2026-09-21T04:47:27.223" v="3" actId="1076"/>
          <ac:picMkLst>
            <pc:docMk/>
            <pc:sldMk cId="0" sldId="256"/>
            <ac:picMk id="7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1M1B INITIATIVE  •  UN SDG 2: ZERO HUNGER</a:t>
            </a:r>
          </a:p>
          <a:p>
            <a:pPr>
              <a:spcBef>
                <a:spcPts val="1200"/>
              </a:spcBef>
              <a:defRPr sz="4400" b="1">
                <a:solidFill>
                  <a:srgbClr val="FFFFFF"/>
                </a:solidFill>
              </a:defRPr>
            </a:pPr>
            <a:r>
              <a:t>FoodWatch</a:t>
            </a:r>
          </a:p>
          <a:p>
            <a:pPr>
              <a:spcBef>
                <a:spcPts val="800"/>
              </a:spcBef>
              <a:defRPr sz="1800">
                <a:solidFill>
                  <a:srgbClr val="CBD5E1"/>
                </a:solidFill>
              </a:defRPr>
            </a:pPr>
            <a:r>
              <a:t>Real-Time Surplus Food Redistribution &amp; Policy Intelligence Platform</a:t>
            </a:r>
          </a:p>
          <a:p>
            <a:pPr>
              <a:spcBef>
                <a:spcPts val="1600"/>
              </a:spcBef>
              <a:defRPr sz="1200">
                <a:solidFill>
                  <a:srgbClr val="94A3B8"/>
                </a:solidFill>
              </a:defRPr>
            </a:pPr>
            <a:r>
              <a:t>Connecting restaurants, banquet halls, and commercial donors with local grassroots NGOs, orphanages, and community kitchens in real time before fresh food perishes.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029200"/>
            <a:ext cx="5303520" cy="86868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🌱 Developed for 1M1B (1 Million for 1 Billion) Foundation</a:t>
            </a:r>
          </a:p>
          <a:p>
            <a:pPr>
              <a:spcBef>
                <a:spcPts val="200"/>
              </a:spcBef>
              <a:defRPr sz="950">
                <a:solidFill>
                  <a:srgbClr val="10B981"/>
                </a:solidFill>
              </a:defRPr>
            </a:pPr>
            <a:r>
              <a:t>Full-Stack Web Architecture | Policy Portal | AI Assistant |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005840"/>
            <a:ext cx="4297680" cy="489204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foodwatch_hero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913" y="1356852"/>
            <a:ext cx="3539613" cy="28036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78040" y="429768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Real-Time Geospatial Coordination</a:t>
            </a:r>
          </a:p>
          <a:p>
            <a:pPr>
              <a:spcBef>
                <a:spcPts val="400"/>
              </a:spcBef>
              <a:defRPr sz="1000">
                <a:solidFill>
                  <a:srgbClr val="94A3B8"/>
                </a:solidFill>
              </a:defRPr>
            </a:pPr>
            <a:r>
              <a:t>Live interactive Leaflet maps, dynamic shelf-life countdowns, and atomic lock claims to eliminate urban food waste.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Project Overview &amp; Strategic Vision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A comprehensive ecosystem tackling food waste through technology, policy, and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1874519"/>
            <a:ext cx="64008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Hyperlocal Redistribution Platform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Full-stack MERN platform connecting food surplus donors (restaurants, caterers, hotels) with verified NGOs and shelters within a critical 2-hour window before cooked food spoils.</a:t>
            </a:r>
          </a:p>
          <a:p>
            <a:pPr>
              <a:spcBef>
                <a:spcPts val="1000"/>
              </a:spcBef>
              <a:defRPr sz="900" b="1">
                <a:solidFill>
                  <a:srgbClr val="059669"/>
                </a:solidFill>
              </a:defRPr>
            </a:pPr>
            <a:r>
              <a:t>KEY CAPABILITIES: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Sub-minute donation listings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Interactive Leaflet geospatial map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Atomic race-condition safe claiming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Live impact tracker (meals &amp; CO2)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99432" y="1874519"/>
            <a:ext cx="640080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233172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National Policy &amp; Research Hub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Data-driven portal synthesizing primary-source loss datasets from ICAR, CAG, and NITI Aayog, alongside actionable guidance on key government schemes.</a:t>
            </a:r>
          </a:p>
          <a:p>
            <a:pPr>
              <a:spcBef>
                <a:spcPts val="1000"/>
              </a:spcBef>
              <a:defRPr sz="900" b="1">
                <a:solidFill>
                  <a:srgbClr val="2563EB"/>
                </a:solidFill>
              </a:defRPr>
            </a:pPr>
            <a:r>
              <a:t>KEY CAPABILITIES: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ICAR &amp; FAO post-harvest metrics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PMKSY &amp; RKVY cold-chain analysis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APMC Mandi price distortion studies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Citizen &amp; community action frameworks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42900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238744" y="1874519"/>
            <a:ext cx="640080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2331720"/>
            <a:ext cx="2971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AI Assistant: 'IBM Bob'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Conversational AI advisor inspired by IBM watsonx, engineered to answer complex questions regarding food preservation, government subsidies, and logistics.</a:t>
            </a:r>
          </a:p>
          <a:p>
            <a:pPr>
              <a:spcBef>
                <a:spcPts val="1000"/>
              </a:spcBef>
              <a:defRPr sz="900" b="1">
                <a:solidFill>
                  <a:srgbClr val="7C3AED"/>
                </a:solidFill>
              </a:defRPr>
            </a:pPr>
            <a:r>
              <a:t>KEY CAPABILITIES: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Instant scheme eligibility answers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Storage &amp; hygiene guidelines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NGO onboarding assistance</a:t>
            </a:r>
          </a:p>
          <a:p>
            <a:pPr>
              <a:spcBef>
                <a:spcPts val="300"/>
              </a:spcBef>
              <a:defRPr sz="950">
                <a:solidFill>
                  <a:srgbClr val="0F172A"/>
                </a:solidFill>
              </a:defRPr>
            </a:pPr>
            <a:r>
              <a:t>• FSSAI compliance recommendations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715000"/>
            <a:ext cx="1069848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59669"/>
                </a:solidFill>
              </a:defRPr>
            </a:pPr>
            <a:r>
              <a:t>🎯 Core Mission: Accelerate UN SDG 2 (Zero Hunger) by transforming uncoordinated food waste into dignified community nutrition.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THE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The Grand Paradox: Massive Waste Amid Chronic Hunger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India's food distribution crisis stems from broken logistics, missing cold chains, and lack of coordination.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9728" cy="13258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173736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EF4444"/>
                </a:solidFill>
              </a:defRPr>
            </a:pPr>
            <a:r>
              <a:t>₹1.53 Lakh Crore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Annual Value of Food Lost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According to ICAR (2022) and NITI Aayog, food loss across post-harvest and supply chain amounts to 1.53 Lakh Cr annually.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109728" cy="13258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59E0B"/>
                </a:solidFill>
              </a:defRPr>
            </a:pPr>
            <a:r>
              <a:t>67 Million MT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Food Wasted Annually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India throws away over 67 million metric tonnes of food each year — equal to the total food consumption of the state of Bihar.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572000"/>
            <a:ext cx="53035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109728" cy="132588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4663440"/>
            <a:ext cx="48463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DC2626"/>
                </a:solidFill>
              </a:defRPr>
            </a:pPr>
            <a:r>
              <a:t>111th / 125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Global Hunger Index Rank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Despite record agricultural yields, severe child wasting (18.7%) and micronutrient deficiencies afflict vulnerable populations.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512064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food_problem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828800"/>
            <a:ext cx="4754880" cy="228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92240" y="42062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Why Cooked Food Is Discarded Nightly: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• Unpredictable Event Surplus: Banquet halls and caterers over-prepare by 15-25% to avoid shortages.</a:t>
            </a:r>
            <a:br/>
            <a:r>
              <a:t>• Missing Real-Time Channels: No quick directory of nearby shelters with active night-time capacity.</a:t>
            </a:r>
            <a:br/>
            <a:r>
              <a:t>• Liability &amp; Trust Hesitation: Fear of food safety liabilities without verified hygiene declarations.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DATA &amp;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Primary-Source Research &amp; Supply Chain Bottlenecks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Synthesized from national audits (CAG, ICAR, Shanta Kumar Committee, NHB).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56032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COLD CHAIN CONCENTRATION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75% — Concentrated in 5 States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India has 8,186 cold storage units (37.4M MT capacity), but 75% of capacity is clustered in just UP, WB, Punjab, Gujarat, and MP. Rural India remains almost entirely disconnected.</a:t>
            </a:r>
          </a:p>
          <a:p>
            <a:pPr>
              <a:spcBef>
                <a:spcPts val="400"/>
              </a:spcBef>
              <a:defRPr sz="800">
                <a:solidFill>
                  <a:srgbClr val="64748B"/>
                </a:solidFill>
              </a:defRPr>
            </a:pPr>
            <a:r>
              <a:t>📄 Source: National Horticulture Board (NHB 2023) / MoFPI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256032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EF4444"/>
                </a:solidFill>
              </a:defRPr>
            </a:pPr>
            <a:r>
              <a:t>PERISHABLE COLD CHAIN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4884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11% — Produce in Integrated Chain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Only 11% of India's perishable fruits and vegetables move through an unbroken temperature-controlled cold chain, causing rapid biological decomposition.</a:t>
            </a:r>
          </a:p>
          <a:p>
            <a:pPr>
              <a:spcBef>
                <a:spcPts val="400"/>
              </a:spcBef>
              <a:defRPr sz="800">
                <a:solidFill>
                  <a:srgbClr val="64748B"/>
                </a:solidFill>
              </a:defRPr>
            </a:pPr>
            <a:r>
              <a:t>📄 Source: Ministry of Food Processing Industries (MoFPI 2023)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4023360"/>
            <a:ext cx="256032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MSP BENEFIT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4340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6% — Farmers Benefiting from MSP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The Shanta Kumar Committee Report documented that only 6% of Indian farmers receive official MSP rates. The remaining 94% suffer distress sales and lack storage.</a:t>
            </a:r>
          </a:p>
          <a:p>
            <a:pPr>
              <a:spcBef>
                <a:spcPts val="400"/>
              </a:spcBef>
              <a:defRPr sz="800">
                <a:solidFill>
                  <a:srgbClr val="64748B"/>
                </a:solidFill>
              </a:defRPr>
            </a:pPr>
            <a:r>
              <a:t>📄 Source: High Level Committee on Agri Marketing (2015)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80"/>
            <a:ext cx="52578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55080" y="4023360"/>
            <a:ext cx="256032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POST-HARVEST TRANSIT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4340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59669"/>
                </a:solidFill>
              </a:defRPr>
            </a:pPr>
            <a:r>
              <a:t>7–15% — Weight Lost in Transport</a:t>
            </a:r>
          </a:p>
          <a:p>
            <a:pPr>
              <a:spcBef>
                <a:spcPts val="400"/>
              </a:spcBef>
              <a:defRPr sz="950">
                <a:solidFill>
                  <a:srgbClr val="0F172A"/>
                </a:solidFill>
              </a:defRPr>
            </a:pPr>
            <a:r>
              <a:t>ICAR studies found 7% to 15% vegetable weight loss during transport due to rough handling, non-ventilated vehicles, and 41% unpaved rural road networks.</a:t>
            </a:r>
          </a:p>
          <a:p>
            <a:pPr>
              <a:spcBef>
                <a:spcPts val="400"/>
              </a:spcBef>
              <a:defRPr sz="800">
                <a:solidFill>
                  <a:srgbClr val="64748B"/>
                </a:solidFill>
              </a:defRPr>
            </a:pPr>
            <a:r>
              <a:t>📄 Source: ICAR Assessment (2022) / PMGSY Progress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FoodWatch: Real-Time Geospatial Food Rescue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A technology platform engineered to bridge donors and grassroots relief agencies within minutes.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9436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⚡ 60-Second Surplus Listing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Kitchens and banquet managers can post meals in under a minute with portions, photos, preparation timestamps, and dietary tags (Veg, Non-Veg, Vegan).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24912"/>
            <a:ext cx="59436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798064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🗺️ Interactive Geospatial Map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Built on Leaflet and OpenStreetMap. Verified NGOs visualize listings within 5km/10km/25km radiuses with immediate distance sorting.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03904"/>
            <a:ext cx="59436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77056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⏳ Automated Shelf-Life Engine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Dynamic server-calculated countdown timers. Warning notifications trigger when items approach expiry, preventing spoiled food delivery.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82896"/>
            <a:ext cx="594360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956048"/>
            <a:ext cx="5577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59669"/>
                </a:solidFill>
              </a:defRPr>
            </a:pPr>
            <a:r>
              <a:t>🛡️ Trust &amp; Verification Shield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Mandatory food hygiene declarations, phone OTP verification for accountability, and 1-5 star post-collection donor review system.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1645920"/>
            <a:ext cx="44805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food_rescue_3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0"/>
            <a:ext cx="4114800" cy="2377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32320" y="434340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Closing the Urban Surplus Loop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FoodWatch turns an otherwise discarded resource into high-protein, balanced nourishment for underprivileged children, elderly homes, and migrant shelters.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End-to-End Operational Workflow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From kitchen surplus creation to verified NGO distribution and carbon accounting.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2996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1664208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175564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Surplus Listed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Donor uploads meal info, portions, shelf-life, and location. Signs hygiene declaration.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645920"/>
            <a:ext cx="202996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90671" y="1828800"/>
            <a:ext cx="1664208" cy="3200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4951" y="2240280"/>
            <a:ext cx="175564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Expiry Calculated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Engine sets expiresAt = preparedAt + shelfLife. Listing appears LIVE on map.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645920"/>
            <a:ext cx="202996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266944" y="1828800"/>
            <a:ext cx="1664208" cy="3200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2240280"/>
            <a:ext cx="175564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Discovery &amp; Filter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NGOs discover food on Leaflet map, filter by dietary tags (Veg/Vegan) and distance.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0336" y="1645920"/>
            <a:ext cx="202996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43216" y="1828800"/>
            <a:ext cx="1664208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97496" y="2240280"/>
            <a:ext cx="175564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Atomic Claim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System uses atomic findOneAndUpdate to lock listing and prevent duplicate claims.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36608" y="1645920"/>
            <a:ext cx="202996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19488" y="1828800"/>
            <a:ext cx="1664208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240280"/>
            <a:ext cx="175564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200" b="1">
                <a:solidFill>
                  <a:srgbClr val="0F172A"/>
                </a:solidFill>
              </a:defRPr>
            </a:pPr>
            <a:r>
              <a:t>Handover &amp; Review</a:t>
            </a:r>
          </a:p>
          <a:p>
            <a:pPr>
              <a:spcBef>
                <a:spcPts val="600"/>
              </a:spcBef>
              <a:defRPr sz="900">
                <a:solidFill>
                  <a:srgbClr val="64748B"/>
                </a:solidFill>
              </a:defRPr>
            </a:pPr>
            <a:r>
              <a:t>NGO collects food, marks collected. Donor receives 1-5 star review. Impact calculated.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⚙️ Automated Background Engine (node-cron Active Job Queue)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• Expiry Watchdog: Runs every 5 minutes. Evaluates all active donations against UTC server time.</a:t>
            </a:r>
            <a:br/>
            <a:r>
              <a:t>• Urgent Alerts: Sends SMS and in-app alerts to donor if listing remains unclaimed 30 minutes prior to expiry.</a:t>
            </a:r>
            <a:br/>
            <a:r>
              <a:t>• Auto-Prune: Flips expired items to EXPIRED status, removing them from the public map to guarantee food safety.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Robust Full-Stack Engineering Architecture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Built for high availability, transactional integrity, and responsive user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306324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FRONTEND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React 18 &amp; React Router v6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Component-driven SPA architecture with client-side routing.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Leaflet &amp; OpenStreetMap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Geospatial mapping without costly proprietary API vendor lock-in.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Recharts Library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Dynamic data visualization for impact metrics and trends.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Vanilla CSS Design Tokens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Modern responsive design with CSS variables, zero framework bloat.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53712" y="1828800"/>
            <a:ext cx="3063240" cy="36576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3317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rPr dirty="0"/>
              <a:t>Node.js &amp; Express.js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rPr dirty="0"/>
              <a:t>Asynchronous, event-driven RESTful API endpoints.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dirty="0"/>
              <a:t>node-</a:t>
            </a:r>
            <a:r>
              <a:rPr dirty="0" err="1"/>
              <a:t>cron</a:t>
            </a:r>
            <a:r>
              <a:rPr dirty="0"/>
              <a:t> Job Engine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Automated background jobs executing every 5 minutes.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dirty="0"/>
              <a:t>JWT &amp; </a:t>
            </a:r>
            <a:r>
              <a:rPr dirty="0" err="1"/>
              <a:t>Bcrypt</a:t>
            </a:r>
            <a:r>
              <a:rPr dirty="0"/>
              <a:t> Security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rPr dirty="0"/>
              <a:t>Stateless authentication with salt-hashed password security.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rPr dirty="0"/>
              <a:t>SMS OTP Gateway Support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rPr dirty="0"/>
              <a:t>MSG91/Twilio integration with local dev console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93024" y="1828800"/>
            <a:ext cx="306324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DATABASE &amp; 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331720"/>
            <a:ext cx="30632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MongoDB with Mongoose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Flexible NoSQL schema handling rapid status state transitions.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Atomic findOneAndUpdate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Eliminates race conditions when multiple NGOs claim simultaneously.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DPDP Act Compliance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Zero raw 12-digit Aadhaar storage; uses optional last 4 digits only.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Comprehensive Seeds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Preloaded test scenarios for donors, recipients, and claims.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Engineering Highlights &amp; Concurrency Handling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Purpose-built architectural mechanisms solving the real-world operational challenges of food redistribution.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9728" cy="21031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Atomic Claim Locks (Anti-Race Condition)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Challenge: In high-density urban areas, popular surplus listings can be targeted by multiple shelters at once. Standard read-then-write updates cause double-claiming disasters.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Technical Solution: Leverages MongoDB's atomic findOneAndUpdate with status === 'available' filter. The first receiver acquires an exclusive lock; subsequent calls receive HTTP 409 Conflict with friendly UI explanations.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109728" cy="21031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Dynamic Shelf-Life &amp; Expiry Math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Challenge: Food safety is non-negotiable. Static pickup times fail when events conclude earlier or later than planned.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Technical Solution: Computes precise expiresAt from preparation timestamp and certified shelf-life hours. Displays real-time countdown badges on cards and auto-delists items upon expiry.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8620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3886200"/>
            <a:ext cx="109728" cy="21031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40233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Phone OTP &amp; DPDP Act Privacy Guard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Challenge: NGOs and donors require mutual trust without violating India's Digital Personal Data Protection (DPDP) Act 2023.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Technical Solution: Verification relies on phone OTP. Strict data minimization ensures no full 12-digit Aadhaar numbers are collected or stored in database records.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886200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3886200"/>
            <a:ext cx="109728" cy="21031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402336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Two-Way Feedback &amp; Accountability Loop</a:t>
            </a:r>
          </a:p>
          <a:p>
            <a:pPr>
              <a:spcBef>
                <a:spcPts val="400"/>
              </a:spcBef>
              <a:defRPr sz="900">
                <a:solidFill>
                  <a:srgbClr val="64748B"/>
                </a:solidFill>
              </a:defRPr>
            </a:pPr>
            <a:r>
              <a:t>Challenge: Eliminating poor-quality donations through social accountability and donor recognition.</a:t>
            </a:r>
          </a:p>
          <a:p>
            <a:pPr>
              <a:spcBef>
                <a:spcPts val="400"/>
              </a:spcBef>
              <a:defRPr sz="900">
                <a:solidFill>
                  <a:srgbClr val="0F172A"/>
                </a:solidFill>
              </a:defRPr>
            </a:pPr>
            <a:r>
              <a:t>Technical Solution: Post-collection review prompt where recipient NGOs rate food freshness, hygiene, and packaging on a 1-to-5 star scale, building an immutable community trust score.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IMPACT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Quantifying Social &amp; Environmental Impact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Automated real-time mathematical calculations converting rescued meals into environmental equivalents.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01168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59669"/>
                </a:solidFill>
              </a:defRPr>
            </a:pPr>
            <a:r>
              <a:t>MEALS RESCUED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59669"/>
                </a:solidFill>
              </a:defRPr>
            </a:pPr>
            <a:r>
              <a:t>2.5x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Meals per kg Rescued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Every kilogram of surplus cooked food collected provides approximately 2.5 wholesome, calorically sufficient meal portions.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553712" y="1828800"/>
            <a:ext cx="201168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563EB"/>
                </a:solidFill>
              </a:defRPr>
            </a:pPr>
            <a:r>
              <a:t>CO2e DIVERTED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14884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2.5 kg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Emissions Avoided / kg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Prevents organic waste from entering landfills, stopping anaerobic decay and high-potency methane gas release.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645920"/>
            <a:ext cx="34290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93024" y="1828800"/>
            <a:ext cx="201168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59E0B"/>
                </a:solidFill>
              </a:defRPr>
            </a:pPr>
            <a:r>
              <a:t>VIRTUAL WATER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214884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1,000 L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Water Saved / kg</a:t>
            </a:r>
          </a:p>
          <a:p>
            <a:pPr>
              <a:spcBef>
                <a:spcPts val="200"/>
              </a:spcBef>
              <a:defRPr sz="850">
                <a:solidFill>
                  <a:srgbClr val="64748B"/>
                </a:solidFill>
              </a:defRPr>
            </a:pPr>
            <a:r>
              <a:t>Preserves the agricultural irrigation water already invested into cultivating, harvesting, and preparing the food.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77639"/>
            <a:ext cx="106984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1148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Transparent Public Impact Dashboard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FoodWatch features an open, real-time public impact page (/impact) providing full institutional transparency:</a:t>
            </a:r>
            <a:br/>
            <a:r>
              <a:t>• Donor Leaderboards: Recognizing top corporate and hotel donors to encourage CSR competition.</a:t>
            </a:r>
            <a:br/>
            <a:r>
              <a:t>• Category Breakdown: Live analytics tracking Grain, Dairy, Vegetable, and Cooked Meal distributions.</a:t>
            </a:r>
            <a:br/>
            <a:r>
              <a:t>• Live Verification Auditing: Every rescued batch displays verified pickup timestamps and NGO recipient receipts.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POLICY &amp;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Government Scheme Alignment &amp; AI Advisory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Empowering users with actionable policy insights and conversational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Key Government Policy Interfaces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• PM Kisan SAMPADA Yojana (PMKSY)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Ministry of Food Processing Industries scheme offering up to 50% capital subsidy for integrated cold chain and post-harvest infrastructure.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• Operation Greens (TOP to TOTAL)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Price stabilization program for Tomatoes, Onions, and Potatoes, funding 50% transport and cold storage subsidies during gluts.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• FSSAI IFSA (Save Food Share Food)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Food Safety &amp; Standards Authority guidelines establishing hygiene regulations and liability shields for surplus food donations.</a:t>
            </a:r>
          </a:p>
          <a:p>
            <a:pPr>
              <a:spcBef>
                <a:spcPts val="800"/>
              </a:spcBef>
              <a:defRPr sz="1050" b="1">
                <a:solidFill>
                  <a:srgbClr val="2563EB"/>
                </a:solidFill>
              </a:defRPr>
            </a:pPr>
            <a:r>
              <a:t>• RKVY-RAFTAAR Grants</a:t>
            </a:r>
          </a:p>
          <a:p>
            <a:pPr>
              <a:spcBef>
                <a:spcPts val="200"/>
              </a:spcBef>
              <a:defRPr sz="900">
                <a:solidFill>
                  <a:srgbClr val="64748B"/>
                </a:solidFill>
              </a:defRPr>
            </a:pPr>
            <a:r>
              <a:t>Funds agritech startups and community farmer producer organizations (FPOs) building hyperlocal aggregation centers.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4480560"/>
          </a:xfrm>
          <a:prstGeom prst="roundRect">
            <a:avLst/>
          </a:prstGeom>
          <a:solidFill>
            <a:srgbClr val="F8FA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00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8A"/>
                </a:solidFill>
              </a:defRPr>
            </a:pPr>
            <a:r>
              <a:t>🤖 IBM Bob — AI Food Policy Assistant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Inspired by IBM watsonx, 'Bob' is an embedded conversational assistant helping grassroots NGOs, caterers, and citizens navigate policy and food handling.</a:t>
            </a:r>
          </a:p>
          <a:p>
            <a:pPr>
              <a:spcBef>
                <a:spcPts val="1000"/>
              </a:spcBef>
              <a:defRPr sz="1000" b="1">
                <a:solidFill>
                  <a:srgbClr val="0F172A"/>
                </a:solidFill>
              </a:defRPr>
            </a:pPr>
            <a:r>
              <a:t>Example Queries Handled by Bob:</a:t>
            </a:r>
          </a:p>
          <a:p>
            <a:pPr>
              <a:spcBef>
                <a:spcPts val="400"/>
              </a:spcBef>
              <a:defRPr sz="900">
                <a:solidFill>
                  <a:srgbClr val="4338CA"/>
                </a:solidFill>
              </a:defRPr>
            </a:pPr>
            <a:r>
              <a:t>💬 "How do I apply for the PMKSY cold chain capital subsidy?"</a:t>
            </a:r>
          </a:p>
          <a:p>
            <a:pPr>
              <a:spcBef>
                <a:spcPts val="400"/>
              </a:spcBef>
              <a:defRPr sz="900">
                <a:solidFill>
                  <a:srgbClr val="4338CA"/>
                </a:solidFill>
              </a:defRPr>
            </a:pPr>
            <a:r>
              <a:t>💬 "What are the FSSAI hygiene rules for donating cooked rice?"</a:t>
            </a:r>
          </a:p>
          <a:p>
            <a:pPr>
              <a:spcBef>
                <a:spcPts val="400"/>
              </a:spcBef>
              <a:defRPr sz="900">
                <a:solidFill>
                  <a:srgbClr val="4338CA"/>
                </a:solidFill>
              </a:defRPr>
            </a:pPr>
            <a:r>
              <a:t>💬 "Which states have the highest post-harvest potato wastage?"</a:t>
            </a:r>
          </a:p>
          <a:p>
            <a:pPr>
              <a:spcBef>
                <a:spcPts val="400"/>
              </a:spcBef>
              <a:defRPr sz="900">
                <a:solidFill>
                  <a:srgbClr val="4338CA"/>
                </a:solidFill>
              </a:defRPr>
            </a:pPr>
            <a:r>
              <a:t>💬 "How can our shelter set up an automated pickup route?"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292608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59669"/>
                </a:solidFill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Scalability Model &amp; Multi-Phase Roadmap</a:t>
            </a:r>
          </a:p>
          <a:p>
            <a:pPr>
              <a:spcBef>
                <a:spcPts val="300"/>
              </a:spcBef>
              <a:defRPr sz="1100">
                <a:solidFill>
                  <a:srgbClr val="64748B"/>
                </a:solidFill>
              </a:defRPr>
            </a:pPr>
            <a:r>
              <a:t>A phased deployment strategy taking FoodWatch from city pilot to national scale.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420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267712" cy="34747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1 (DEPLOYED)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Metro Foundation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Full-stack web platform active</a:t>
            </a:r>
            <a:br/>
            <a:r>
              <a:t>• Leaflet geospatial discovery</a:t>
            </a:r>
            <a:br/>
            <a:r>
              <a:t>• Atomic claim locking</a:t>
            </a:r>
            <a:br/>
            <a:r>
              <a:t>• Seed data across Delhi, Bengaluru, and Mumbai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645920"/>
            <a:ext cx="25420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593592" y="1828800"/>
            <a:ext cx="2267712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2 (NEAR-TERM)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2860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Mobile &amp; Logistics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React Native iOS/Android app</a:t>
            </a:r>
            <a:br/>
            <a:r>
              <a:t>• 'FoodWatch Runners' volunteer delivery network</a:t>
            </a:r>
            <a:br/>
            <a:r>
              <a:t>• Push notifications via Firebase FCM</a:t>
            </a:r>
            <a:br/>
            <a:r>
              <a:t>• Automated route bundling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420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18504" y="1828800"/>
            <a:ext cx="2267712" cy="34747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3 (MID-TERM)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2860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IoT &amp; Smart Chillers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Integration with smart BLE temperature sensors</a:t>
            </a:r>
            <a:br/>
            <a:r>
              <a:t>• Real-time cold storage container tracking</a:t>
            </a:r>
            <a:br/>
            <a:r>
              <a:t>• Predictive AI forecasting wedding surplus volume</a:t>
            </a:r>
            <a:br/>
            <a:r>
              <a:t>• Neighborhood food bank micro-hubs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645920"/>
            <a:ext cx="2542032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043416" y="1828800"/>
            <a:ext cx="2267712" cy="34747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4 (SCALE)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286000"/>
            <a:ext cx="22677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Corporate CSR &amp; 80G</a:t>
            </a:r>
          </a:p>
          <a:p>
            <a:pPr>
              <a:spcBef>
                <a:spcPts val="800"/>
              </a:spcBef>
              <a:defRPr sz="950">
                <a:solidFill>
                  <a:srgbClr val="64748B"/>
                </a:solidFill>
              </a:defRPr>
            </a:pPr>
            <a:r>
              <a:t>• Automated 80G tax exemption certificates</a:t>
            </a:r>
            <a:br/>
            <a:r>
              <a:t>• Corporate ESG/CSR compliance reporting</a:t>
            </a:r>
            <a:br/>
            <a:r>
              <a:t>• FSSAI national portal integration</a:t>
            </a:r>
            <a:br/>
            <a:r>
              <a:t>• Pan-India scale across Tier 2/3 cities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94A3B8"/>
                </a:solidFill>
              </a:defRPr>
            </a:pPr>
            <a:r>
              <a:t>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914400"/>
            <a:ext cx="944849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CONCLUSION &amp; SDG 2 ALIGNMENT</a:t>
            </a:r>
          </a:p>
          <a:p>
            <a:pPr algn="ctr">
              <a:spcBef>
                <a:spcPts val="1000"/>
              </a:spcBef>
              <a:defRPr sz="3600" b="1">
                <a:solidFill>
                  <a:srgbClr val="FFFFFF"/>
                </a:solidFill>
              </a:defRPr>
            </a:pPr>
            <a:r>
              <a:t>Feeding People, Not Landfills</a:t>
            </a:r>
          </a:p>
          <a:p>
            <a:pPr algn="ctr">
              <a:spcBef>
                <a:spcPts val="1200"/>
              </a:spcBef>
              <a:defRPr sz="1300">
                <a:solidFill>
                  <a:srgbClr val="CBD5E1"/>
                </a:solidFill>
              </a:defRPr>
            </a:pPr>
            <a:r>
              <a:t>FoodWatch bridges the critical divide between urban abundance and chronic hunger. By uniting geospatial technology, atomic state-locks, and grassroots community mobilization, we make Zero Hunger a tangible reality.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3474720"/>
            <a:ext cx="2834640" cy="146304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783080" y="36118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SDG 2.1 Access to Food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Ensuring safe, nutritious food all year round for the poor and vulnerable.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474720"/>
            <a:ext cx="2834640" cy="146304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36118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SDG 12.3 Halve Food Waste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Cutting retail and consumer food waste while reducing supply chain losses.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3474720"/>
            <a:ext cx="2834640" cy="1463040"/>
          </a:xfrm>
          <a:prstGeom prst="roundRect">
            <a:avLst/>
          </a:prstGeom>
          <a:solidFill>
            <a:srgbClr val="131B2E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18120" y="36118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1M1B Youth Leadership</a:t>
            </a:r>
          </a:p>
          <a:p>
            <a:pPr>
              <a:spcBef>
                <a:spcPts val="400"/>
              </a:spcBef>
              <a:defRPr sz="900">
                <a:solidFill>
                  <a:srgbClr val="94A3B8"/>
                </a:solidFill>
              </a:defRPr>
            </a:pPr>
            <a:r>
              <a:t>Mobilizing technology to impact 1 million leaders for 1 billion citizens.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5257800"/>
            <a:ext cx="5943600" cy="594360"/>
          </a:xfrm>
          <a:prstGeom prst="roundRect">
            <a:avLst/>
          </a:prstGeom>
          <a:solidFill>
            <a:srgbClr val="131B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🔗 GitHub: github.com/zeaqc/FoodWatch-1m1b  •  Live Platform: localhost:3000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FoodWatch — SDG 2 Zero Hunger Surplus Food Platform | 1M1B Initiative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446520"/>
            <a:ext cx="2743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2310</Words>
  <Application>Microsoft Office PowerPoint</Application>
  <PresentationFormat>Widescreen</PresentationFormat>
  <Paragraphs>232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Pranjal Verma</cp:lastModifiedBy>
  <cp:revision>1</cp:revision>
  <dcterms:created xsi:type="dcterms:W3CDTF">2013-01-27T09:14:16Z</dcterms:created>
  <dcterms:modified xsi:type="dcterms:W3CDTF">2026-09-21T04:48:05Z</dcterms:modified>
  <cp:category/>
</cp:coreProperties>
</file>